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2060"/>
                </a:solidFill>
                <a:latin typeface="Calibri"/>
              </a:defRPr>
            </a:pPr>
            <a:r>
              <a:t>Analysis | Player</a:t>
            </a:r>
            <a:br/>
            <a:r>
              <a:t>COMPOSTELA v DEPORTIVO (WIN 0-4)</a:t>
            </a:r>
          </a:p>
        </p:txBody>
      </p:sp>
      <p:sp>
        <p:nvSpPr>
          <p:cNvPr id="3" name="Rectangle 2"/>
          <p:cNvSpPr/>
          <p:nvPr/>
        </p:nvSpPr>
        <p:spPr>
          <a:xfrm>
            <a:off x="8046720" y="320040"/>
            <a:ext cx="3657600" cy="640080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2060"/>
                </a:solidFill>
              </a:defRPr>
            </a:pPr>
            <a:r>
              <a:t>TOTAL NUMBER OF SUBSTITUTIONS: 0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263640"/>
            <a:ext cx="11274552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D4AF37"/>
                </a:solidFill>
              </a:defRPr>
            </a:pPr>
            <a:r>
              <a:t>DEPORTIVO DE A CORUÑA FC  |  2026/27 SEASON  |  MEDICAL &amp; SPORTS SCIENCE DEPARTMENT</a:t>
            </a:r>
          </a:p>
        </p:txBody>
      </p:sp>
      <p:sp>
        <p:nvSpPr>
          <p:cNvPr id="6" name="Trapezoid 5"/>
          <p:cNvSpPr/>
          <p:nvPr/>
        </p:nvSpPr>
        <p:spPr>
          <a:xfrm>
            <a:off x="2286000" y="1234440"/>
            <a:ext cx="7132320" cy="4800600"/>
          </a:xfrm>
          <a:prstGeom prst="trapezoid">
            <a:avLst/>
          </a:prstGeom>
          <a:solidFill>
            <a:srgbClr val="EBF5EB"/>
          </a:solidFill>
          <a:ln w="2540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811780" y="3634740"/>
            <a:ext cx="6080760" cy="18288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94960" y="5361127"/>
            <a:ext cx="914400" cy="292608"/>
          </a:xfrm>
          <a:prstGeom prst="roundRect">
            <a:avLst/>
          </a:prstGeom>
          <a:solidFill>
            <a:srgbClr val="D9EAD3"/>
          </a:solidFill>
          <a:ln w="1905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850">
                <a:solidFill>
                  <a:srgbClr val="002060"/>
                </a:solidFill>
              </a:defRPr>
            </a:pPr>
            <a:r>
              <a:t>Leo Román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5342" y="4593031"/>
            <a:ext cx="914400" cy="292608"/>
          </a:xfrm>
          <a:prstGeom prst="roundRect">
            <a:avLst/>
          </a:prstGeom>
          <a:solidFill>
            <a:srgbClr val="D9EAD3"/>
          </a:solidFill>
          <a:ln w="1905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850">
                <a:solidFill>
                  <a:srgbClr val="002060"/>
                </a:solidFill>
              </a:defRPr>
            </a:pPr>
            <a:r>
              <a:t>Xabi Campos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30191" y="4785055"/>
            <a:ext cx="914400" cy="292608"/>
          </a:xfrm>
          <a:prstGeom prst="roundRect">
            <a:avLst/>
          </a:prstGeom>
          <a:solidFill>
            <a:srgbClr val="D9EAD3"/>
          </a:solidFill>
          <a:ln w="1905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850">
                <a:solidFill>
                  <a:srgbClr val="002060"/>
                </a:solidFill>
              </a:defRPr>
            </a:pPr>
            <a:r>
              <a:t>Bright Ede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59728" y="4785055"/>
            <a:ext cx="914400" cy="292608"/>
          </a:xfrm>
          <a:prstGeom prst="roundRect">
            <a:avLst/>
          </a:prstGeom>
          <a:solidFill>
            <a:srgbClr val="D9EAD3"/>
          </a:solidFill>
          <a:ln w="1905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850">
                <a:solidFill>
                  <a:srgbClr val="002060"/>
                </a:solidFill>
              </a:defRPr>
            </a:pPr>
            <a:r>
              <a:t>Arnau Comas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4577" y="4593031"/>
            <a:ext cx="914400" cy="292608"/>
          </a:xfrm>
          <a:prstGeom prst="roundRect">
            <a:avLst/>
          </a:prstGeom>
          <a:solidFill>
            <a:srgbClr val="D9EAD3"/>
          </a:solidFill>
          <a:ln w="1905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850">
                <a:solidFill>
                  <a:srgbClr val="002060"/>
                </a:solidFill>
              </a:defRPr>
            </a:pPr>
            <a:r>
              <a:t>Ximo Navarro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70755" y="3392424"/>
            <a:ext cx="914400" cy="292608"/>
          </a:xfrm>
          <a:prstGeom prst="roundRect">
            <a:avLst/>
          </a:prstGeom>
          <a:solidFill>
            <a:srgbClr val="D9EAD3"/>
          </a:solidFill>
          <a:ln w="1905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850">
                <a:solidFill>
                  <a:srgbClr val="002060"/>
                </a:solidFill>
              </a:defRPr>
            </a:pPr>
            <a:r>
              <a:t>Teun Gijselhart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19164" y="3392424"/>
            <a:ext cx="914400" cy="292608"/>
          </a:xfrm>
          <a:prstGeom prst="roundRect">
            <a:avLst/>
          </a:prstGeom>
          <a:solidFill>
            <a:srgbClr val="D9EAD3"/>
          </a:solidFill>
          <a:ln w="1905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850">
                <a:solidFill>
                  <a:srgbClr val="002060"/>
                </a:solidFill>
              </a:defRPr>
            </a:pPr>
            <a:r>
              <a:t>Lorenzo Amatucci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60" y="2768803"/>
            <a:ext cx="914400" cy="292608"/>
          </a:xfrm>
          <a:prstGeom prst="roundRect">
            <a:avLst/>
          </a:prstGeom>
          <a:solidFill>
            <a:srgbClr val="D9EAD3"/>
          </a:solidFill>
          <a:ln w="1905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850">
                <a:solidFill>
                  <a:srgbClr val="002060"/>
                </a:solidFill>
              </a:defRPr>
            </a:pPr>
            <a:r>
              <a:t>Mario Soriano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37406" y="2912364"/>
            <a:ext cx="914400" cy="292608"/>
          </a:xfrm>
          <a:prstGeom prst="roundRect">
            <a:avLst/>
          </a:prstGeom>
          <a:solidFill>
            <a:srgbClr val="D9EAD3"/>
          </a:solidFill>
          <a:ln w="1905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850">
                <a:solidFill>
                  <a:srgbClr val="002060"/>
                </a:solidFill>
              </a:defRPr>
            </a:pPr>
            <a:r>
              <a:t>Luismi Cruz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1599" y="2912364"/>
            <a:ext cx="914400" cy="292608"/>
          </a:xfrm>
          <a:prstGeom prst="roundRect">
            <a:avLst/>
          </a:prstGeom>
          <a:solidFill>
            <a:srgbClr val="D9EAD3"/>
          </a:solidFill>
          <a:ln w="1905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850">
                <a:solidFill>
                  <a:srgbClr val="002060"/>
                </a:solidFill>
              </a:defRPr>
            </a:pPr>
            <a:r>
              <a:t>Adrià Altimira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94960" y="2048255"/>
            <a:ext cx="914400" cy="292608"/>
          </a:xfrm>
          <a:prstGeom prst="roundRect">
            <a:avLst/>
          </a:prstGeom>
          <a:solidFill>
            <a:srgbClr val="D9EAD3"/>
          </a:solidFill>
          <a:ln w="1905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850">
                <a:solidFill>
                  <a:srgbClr val="002060"/>
                </a:solidFill>
              </a:defRPr>
            </a:pPr>
            <a:r>
              <a:t>Bil Nsongo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1234440"/>
            <a:ext cx="2103120" cy="4800600"/>
          </a:xfrm>
          <a:prstGeom prst="roundRect">
            <a:avLst/>
          </a:prstGeom>
          <a:solidFill>
            <a:srgbClr val="FCE5CD"/>
          </a:solidFill>
          <a:ln>
            <a:solidFill>
              <a:srgbClr val="E2A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002060"/>
                </a:solidFill>
              </a:defRPr>
            </a:pPr>
            <a:r>
              <a:t>Substitutes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• Álvaro Ferllo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• Riki Rodríguez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• Jonathan Asp Jensen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• Dani Barcia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• Giacomo Quagliata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• Noé Carrillo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• Zakaria Eddahchouri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• Diego Villares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• Adrián Guerrero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• Samu Fernández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• José Ángel Jurado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• Kevin Sánchez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• Germán Parreño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• Eric Puerto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1234440"/>
            <a:ext cx="21031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02060"/>
                </a:solidFill>
              </a:defRPr>
            </a:pPr>
            <a:r>
              <a:t>Substitutions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